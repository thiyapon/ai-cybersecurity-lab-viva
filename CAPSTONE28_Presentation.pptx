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9C9AA"/>
                </a:solidFill>
                <a:latin typeface="Aptos"/>
              </a:defRPr>
            </a:pPr>
            <a:r>
              <a:t>CYBERSECURITY EDUCATION  •  AI-ASSISTED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9875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5F8FC"/>
                </a:solidFill>
                <a:latin typeface="Aptos"/>
              </a:defRPr>
            </a:pPr>
            <a:r>
              <a:t>AI Cybersecurity Lab Manual</a:t>
            </a:r>
            <a:br/>
            <a:r>
              <a:t>&amp; Viva Preparation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B0C1D6"/>
                </a:solidFill>
                <a:latin typeface="Aptos"/>
              </a:defRPr>
            </a:pPr>
            <a:r>
              <a:t>From lab syllabus to structured notes, verified answers and interactive practice.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663440"/>
            <a:ext cx="3017520" cy="1143000"/>
          </a:xfrm>
          <a:prstGeom prst="roundRect">
            <a:avLst/>
          </a:prstGeom>
          <a:solidFill>
            <a:srgbClr val="162642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828031"/>
            <a:ext cx="2615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D3EB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5285231"/>
            <a:ext cx="2615184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Topic summaries + checklists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4663440"/>
            <a:ext cx="3017520" cy="1143000"/>
          </a:xfrm>
          <a:prstGeom prst="roundRect">
            <a:avLst/>
          </a:prstGeom>
          <a:solidFill>
            <a:srgbClr val="162642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8" y="4828031"/>
            <a:ext cx="2615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9C9AA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5285231"/>
            <a:ext cx="2615184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50 draft viva questions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663440"/>
            <a:ext cx="3383280" cy="1143000"/>
          </a:xfrm>
          <a:prstGeom prst="roundRect">
            <a:avLst/>
          </a:prstGeom>
          <a:solidFill>
            <a:srgbClr val="162642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4828031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B5C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8" y="5285231"/>
            <a:ext cx="2980944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Sources + human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636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0C1D6"/>
                </a:solidFill>
                <a:latin typeface="Aptos"/>
              </a:defRPr>
            </a:pPr>
            <a:r>
              <a:t>Prepared by: [Your Name]  |  [Department / College]  |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D3EB"/>
                </a:solidFill>
                <a:latin typeface="Aptos"/>
              </a:defRPr>
            </a:pPr>
            <a:r>
              <a:t>CAPSTONE 28  /  AI + CYBERSECURITY                                     02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5F8FC"/>
                </a:solidFill>
                <a:latin typeface="Aptos"/>
              </a:defRPr>
            </a:pPr>
            <a:r>
              <a:t>The problem &amp; 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0C1D6"/>
                </a:solidFill>
                <a:latin typeface="Aptos"/>
              </a:defRPr>
            </a:pPr>
            <a:r>
              <a:t>Lab preparation is often scattered across manuals, notes and last-minute viva practice.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429000" cy="1828800"/>
          </a:xfrm>
          <a:prstGeom prst="roundRect">
            <a:avLst/>
          </a:prstGeom>
          <a:solidFill>
            <a:srgbClr val="162642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08483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B5C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542032"/>
            <a:ext cx="30266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• Long theory is hard to revise</a:t>
            </a:r>
            <a:br/>
            <a:r>
              <a:t>• Viva questions are scattered</a:t>
            </a:r>
            <a:br/>
            <a:r>
              <a:t>• AI answers can be confidently wrong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429000" cy="1828800"/>
          </a:xfrm>
          <a:prstGeom prst="roundRect">
            <a:avLst/>
          </a:prstGeom>
          <a:solidFill>
            <a:srgbClr val="162642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08483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D3EB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542032"/>
            <a:ext cx="30266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• Convert source material into concise notes</a:t>
            </a:r>
            <a:br/>
            <a:r>
              <a:t>• Build a topic-wise question bank</a:t>
            </a:r>
            <a:br/>
            <a:r>
              <a:t>• Practice one question at a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920240"/>
            <a:ext cx="3429000" cy="1828800"/>
          </a:xfrm>
          <a:prstGeom prst="roundRect">
            <a:avLst/>
          </a:prstGeom>
          <a:solidFill>
            <a:srgbClr val="162642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208483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9C9AA"/>
                </a:solidFill>
                <a:latin typeface="Aptos"/>
              </a:defRPr>
            </a:pPr>
            <a:r>
              <a:t>THE DIFFERENCE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2542032"/>
            <a:ext cx="30266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• Human-checked answer key</a:t>
            </a:r>
            <a:br/>
            <a:r>
              <a:t>• Source and error tracking</a:t>
            </a:r>
            <a:br/>
            <a:r>
              <a:t>• Simple local web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43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F8FC"/>
                </a:solidFill>
                <a:latin typeface="Aptos"/>
              </a:defRPr>
            </a:pPr>
            <a:r>
              <a:t>Design principle: AI drafts. Trusted sources and human review decide what is correct.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66928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C1D6"/>
                </a:solidFill>
                <a:latin typeface="Aptos"/>
              </a:defRPr>
            </a:pPr>
            <a:r>
              <a:t>Outcome: a repeatable workflow, not just a set of generated notes.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D3EB"/>
                </a:solidFill>
                <a:latin typeface="Aptos"/>
              </a:defRPr>
            </a:pPr>
            <a:r>
              <a:t>CAPSTONE 28  /  AI + CYBERSECURITY                                     03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5F8FC"/>
                </a:solidFill>
                <a:latin typeface="Aptos"/>
              </a:defRPr>
            </a:pPr>
            <a:r>
              <a:t>Five lab topics &amp; tool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0C1D6"/>
                </a:solidFill>
                <a:latin typeface="Aptos"/>
              </a:defRPr>
            </a:pPr>
            <a:r>
              <a:t>Topics are a starter set—align them with the actual college syllabus.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29000" cy="1188720"/>
          </a:xfrm>
          <a:prstGeom prst="roundRect">
            <a:avLst/>
          </a:prstGeom>
          <a:solidFill>
            <a:srgbClr val="162642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D3EB"/>
                </a:solidFill>
                <a:latin typeface="Aptos"/>
              </a:defRPr>
            </a:pPr>
            <a:r>
              <a:t>01  Password hashing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50592"/>
            <a:ext cx="3026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Salts, secure storage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3429000" cy="1188720"/>
          </a:xfrm>
          <a:prstGeom prst="roundRect">
            <a:avLst/>
          </a:prstGeom>
          <a:solidFill>
            <a:srgbClr val="162642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99339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9C9AA"/>
                </a:solidFill>
                <a:latin typeface="Aptos"/>
              </a:defRPr>
            </a:pPr>
            <a:r>
              <a:t>02  Firewall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450592"/>
            <a:ext cx="3026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Traffic, ports, policies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828800"/>
            <a:ext cx="3429000" cy="1188720"/>
          </a:xfrm>
          <a:prstGeom prst="roundRect">
            <a:avLst/>
          </a:prstGeom>
          <a:solidFill>
            <a:srgbClr val="162642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199339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B5C"/>
                </a:solidFill>
                <a:latin typeface="Aptos"/>
              </a:defRPr>
            </a:pPr>
            <a:r>
              <a:t>03  Secure configuration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2450592"/>
            <a:ext cx="3026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Hardening, least privilege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37560"/>
            <a:ext cx="3429000" cy="1188720"/>
          </a:xfrm>
          <a:prstGeom prst="roundRect">
            <a:avLst/>
          </a:prstGeom>
          <a:solidFill>
            <a:srgbClr val="162642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50215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D3EB"/>
                </a:solidFill>
                <a:latin typeface="Aptos"/>
              </a:defRPr>
            </a:pPr>
            <a:r>
              <a:t>04  Security log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959352"/>
            <a:ext cx="3026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Events, patterns,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337560"/>
            <a:ext cx="3429000" cy="1188720"/>
          </a:xfrm>
          <a:prstGeom prst="roundRect">
            <a:avLst/>
          </a:prstGeom>
          <a:solidFill>
            <a:srgbClr val="162642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50215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9C9AA"/>
                </a:solidFill>
                <a:latin typeface="Aptos"/>
              </a:defRPr>
            </a:pPr>
            <a:r>
              <a:t>05  Encryption basics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3959352"/>
            <a:ext cx="3026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Keys, ciphertext, use cases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074920"/>
            <a:ext cx="5257800" cy="914400"/>
          </a:xfrm>
          <a:prstGeom prst="roundRect">
            <a:avLst/>
          </a:prstGeom>
          <a:solidFill>
            <a:srgbClr val="162642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5239512"/>
            <a:ext cx="4855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D3EB"/>
                </a:solidFill>
                <a:latin typeface="Aptos"/>
              </a:defRPr>
            </a:pPr>
            <a:r>
              <a:t>AI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5696712"/>
            <a:ext cx="4855464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ChatGPT • Gemini • NotebookLM • Canva/Gamma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5074920"/>
            <a:ext cx="5257800" cy="914400"/>
          </a:xfrm>
          <a:prstGeom prst="roundRect">
            <a:avLst/>
          </a:prstGeom>
          <a:solidFill>
            <a:srgbClr val="162642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5239512"/>
            <a:ext cx="4855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9C9AA"/>
                </a:solidFill>
                <a:latin typeface="Aptos"/>
              </a:defRPr>
            </a:pPr>
            <a:r>
              <a:t>BUILD + 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5696712"/>
            <a:ext cx="4855464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Python • Streamlit • CSV • Google Sheets • OWASP/NIST/CISA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D3EB"/>
                </a:solidFill>
                <a:latin typeface="Aptos"/>
              </a:defRPr>
            </a:pPr>
            <a:r>
              <a:t>CAPSTONE 28  /  AI + CYBERSECURITY                                     04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5F8FC"/>
                </a:solidFill>
                <a:latin typeface="Aptos"/>
              </a:defRPr>
            </a:pPr>
            <a:r>
              <a:t>System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0C1D6"/>
                </a:solidFill>
                <a:latin typeface="Aptos"/>
              </a:defRPr>
            </a:pPr>
            <a:r>
              <a:t>A source-first workflow helps reduce unsupported AI claims.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2011680" cy="1554480"/>
          </a:xfrm>
          <a:prstGeom prst="roundRect">
            <a:avLst/>
          </a:prstGeom>
          <a:solidFill>
            <a:srgbClr val="162642"/>
          </a:solidFill>
          <a:ln>
            <a:solidFill>
              <a:srgbClr val="38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2450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D3E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8346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F8FC"/>
                </a:solidFill>
                <a:latin typeface="Aptos"/>
              </a:defRPr>
            </a:pPr>
            <a:r>
              <a:t>Syllabus / lab manual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32918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0C1D6"/>
                </a:solidFill>
                <a:latin typeface="Aptos"/>
              </a:defRPr>
            </a:pPr>
            <a:r>
              <a:t>Aims, theory, procedure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2888" y="2788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9C9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2286000"/>
            <a:ext cx="2011680" cy="1554480"/>
          </a:xfrm>
          <a:prstGeom prst="roundRect">
            <a:avLst/>
          </a:prstGeom>
          <a:solidFill>
            <a:srgbClr val="162642"/>
          </a:solidFill>
          <a:ln>
            <a:solidFill>
              <a:srgbClr val="39C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0944" y="2450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D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28346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F8FC"/>
                </a:solidFill>
                <a:latin typeface="Aptos"/>
              </a:defRPr>
            </a:pPr>
            <a:r>
              <a:t>AI draft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4" y="32918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0C1D6"/>
                </a:solidFill>
                <a:latin typeface="Aptos"/>
              </a:defRPr>
            </a:pPr>
            <a:r>
              <a:t>Summaries + 10 Qs/topic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2788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9C9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59" y="2286000"/>
            <a:ext cx="2011680" cy="1554480"/>
          </a:xfrm>
          <a:prstGeom prst="roundRect">
            <a:avLst/>
          </a:prstGeom>
          <a:solidFill>
            <a:srgbClr val="162642"/>
          </a:solidFill>
          <a:ln>
            <a:solidFill>
              <a:srgbClr val="38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2664" y="2450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D3E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28346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F8FC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4" y="32918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0C1D6"/>
                </a:solidFill>
                <a:latin typeface="Aptos"/>
              </a:defRPr>
            </a:pPr>
            <a:r>
              <a:t>Course notes + official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6327" y="2788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9C9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2286000"/>
            <a:ext cx="2011680" cy="1554480"/>
          </a:xfrm>
          <a:prstGeom prst="roundRect">
            <a:avLst/>
          </a:prstGeom>
          <a:solidFill>
            <a:srgbClr val="162642"/>
          </a:solidFill>
          <a:ln>
            <a:solidFill>
              <a:srgbClr val="39C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44383" y="2450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D3E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44383" y="28346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F8FC"/>
                </a:solidFill>
                <a:latin typeface="Aptos"/>
              </a:defRPr>
            </a:pPr>
            <a:r>
              <a:t>Practice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3" y="32918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0C1D6"/>
                </a:solidFill>
                <a:latin typeface="Aptos"/>
              </a:defRPr>
            </a:pPr>
            <a:r>
              <a:t>Question, answer, self-score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2788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9C9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2286000"/>
            <a:ext cx="2011680" cy="1554480"/>
          </a:xfrm>
          <a:prstGeom prst="roundRect">
            <a:avLst/>
          </a:prstGeom>
          <a:solidFill>
            <a:srgbClr val="162642"/>
          </a:solidFill>
          <a:ln>
            <a:solidFill>
              <a:srgbClr val="38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76104" y="2450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D3E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76104" y="28346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F8FC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6104" y="32918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0C1D6"/>
                </a:solidFill>
                <a:latin typeface="Aptos"/>
              </a:defRPr>
            </a:pPr>
            <a:r>
              <a:t>10 sessions + pre/post test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663440"/>
            <a:ext cx="4754880" cy="1005840"/>
          </a:xfrm>
          <a:prstGeom prst="roundRect">
            <a:avLst/>
          </a:prstGeom>
          <a:solidFill>
            <a:srgbClr val="162642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568" y="4828031"/>
            <a:ext cx="4352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D3EB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5285231"/>
            <a:ext cx="43525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Python loads CSV questions, shuffles them and tracks self-assessment.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663440"/>
            <a:ext cx="4754880" cy="1005840"/>
          </a:xfrm>
          <a:prstGeom prst="roundRect">
            <a:avLst/>
          </a:prstGeom>
          <a:solidFill>
            <a:srgbClr val="162642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4828031"/>
            <a:ext cx="4352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B5C"/>
                </a:solidFill>
                <a:latin typeface="Aptos"/>
              </a:defRPr>
            </a:pPr>
            <a:r>
              <a:t>LIMITATION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5285231"/>
            <a:ext cx="43525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Prototype uses a curated question bank; it does not call a live AI API.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D3EB"/>
                </a:solidFill>
                <a:latin typeface="Aptos"/>
              </a:defRPr>
            </a:pPr>
            <a:r>
              <a:t>CAPSTONE 28  /  AI + CYBERSECURITY                                     05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5F8FC"/>
                </a:solidFill>
                <a:latin typeface="Aptos"/>
              </a:defRPr>
            </a:pPr>
            <a:r>
              <a:t>Prototype demo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0C1D6"/>
                </a:solidFill>
                <a:latin typeface="Aptos"/>
              </a:defRPr>
            </a:pPr>
            <a:r>
              <a:t>Show the app live: Dashboard → Viva Practice → Flashcards → Question Bank.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429000" cy="1920240"/>
          </a:xfrm>
          <a:prstGeom prst="roundRect">
            <a:avLst/>
          </a:prstGeom>
          <a:solidFill>
            <a:srgbClr val="162642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3911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D3EB"/>
                </a:solidFill>
                <a:latin typeface="Aptos"/>
              </a:defRPr>
            </a:pPr>
            <a:r>
              <a:t>DEMO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96312"/>
            <a:ext cx="30266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1. Select a lab topic</a:t>
            </a:r>
            <a:br/>
            <a:r>
              <a:t>2. Answer a viva question</a:t>
            </a:r>
            <a:br/>
            <a:r>
              <a:t>3. Reveal model answer</a:t>
            </a:r>
            <a:br/>
            <a:r>
              <a:t>4. Self-score and continue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74519"/>
            <a:ext cx="3429000" cy="1920240"/>
          </a:xfrm>
          <a:prstGeom prst="roundRect">
            <a:avLst/>
          </a:prstGeom>
          <a:solidFill>
            <a:srgbClr val="162642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03911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9C9AA"/>
                </a:solidFill>
                <a:latin typeface="Aptos"/>
              </a:defRPr>
            </a:pPr>
            <a:r>
              <a:t>MEASURES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496312"/>
            <a:ext cx="30266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• Pre-test and post-test score</a:t>
            </a:r>
            <a:br/>
            <a:r>
              <a:t>• Time to complete</a:t>
            </a:r>
            <a:br/>
            <a:r>
              <a:t>• Confidence rating</a:t>
            </a:r>
            <a:br/>
            <a:r>
              <a:t>• User feedback / app bugs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874519"/>
            <a:ext cx="3429000" cy="1920240"/>
          </a:xfrm>
          <a:prstGeom prst="roundRect">
            <a:avLst/>
          </a:prstGeom>
          <a:solidFill>
            <a:srgbClr val="162642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203911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B5C"/>
                </a:solidFill>
                <a:latin typeface="Aptos"/>
              </a:defRPr>
            </a:pPr>
            <a:r>
              <a:t>EVIDENCE TO ADD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496312"/>
            <a:ext cx="30266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• Screenshot of working app</a:t>
            </a:r>
            <a:br/>
            <a:r>
              <a:t>• Verification report</a:t>
            </a:r>
            <a:br/>
            <a:r>
              <a:t>• Actual 10-session data</a:t>
            </a:r>
            <a:br/>
            <a:r>
              <a:t>• Before/after chart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BB5C"/>
                </a:solidFill>
                <a:latin typeface="Aptos"/>
              </a:defRPr>
            </a:pPr>
            <a:r>
              <a:t>Do not invent results. Populate metrics only after running the pilot.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C1D6"/>
                </a:solidFill>
                <a:latin typeface="Aptos"/>
              </a:defRPr>
            </a:pPr>
            <a:r>
              <a:t>Suggested success criteria: usable navigation, traceable sources and documented corrections.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D3EB"/>
                </a:solidFill>
                <a:latin typeface="Aptos"/>
              </a:defRPr>
            </a:pPr>
            <a:r>
              <a:t>CAPSTONE 28  /  AI + CYBERSECURITY                                     06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5F8FC"/>
                </a:solidFill>
                <a:latin typeface="Aptos"/>
              </a:defRPr>
            </a:pPr>
            <a:r>
              <a:t>Responsible AI, limitations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0C1D6"/>
                </a:solidFill>
                <a:latin typeface="Aptos"/>
              </a:defRPr>
            </a:pPr>
            <a:r>
              <a:t>A trustworthy learning assistant must show where its answers come from.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29000" cy="2057400"/>
          </a:xfrm>
          <a:prstGeom prst="roundRect">
            <a:avLst/>
          </a:prstGeom>
          <a:solidFill>
            <a:srgbClr val="162642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9C9AA"/>
                </a:solidFill>
                <a:latin typeface="Aptos"/>
              </a:defRPr>
            </a:pPr>
            <a:r>
              <a:t>RESPONSIBLE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50592"/>
            <a:ext cx="302666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• Verify against syllabus and official references</a:t>
            </a:r>
            <a:br/>
            <a:r>
              <a:t>• Disclose AI assistance when required</a:t>
            </a:r>
            <a:br/>
            <a:r>
              <a:t>• Use synthetic data and protect privacy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2057400"/>
          </a:xfrm>
          <a:prstGeom prst="roundRect">
            <a:avLst/>
          </a:prstGeom>
          <a:solidFill>
            <a:srgbClr val="162642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99339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B5C"/>
                </a:solidFill>
                <a:latin typeface="Aptos"/>
              </a:defRPr>
            </a:pPr>
            <a:r>
              <a:t>KNOWN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450592"/>
            <a:ext cx="302666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• Hallucinations / outdated claims</a:t>
            </a:r>
            <a:br/>
            <a:r>
              <a:t>• Syllabus mismatch</a:t>
            </a:r>
            <a:br/>
            <a:r>
              <a:t>• Small pilot cannot prove causation</a:t>
            </a:r>
            <a:br/>
            <a:r>
              <a:t>• Self-score is not semantic AI grading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828800"/>
            <a:ext cx="3429000" cy="2057400"/>
          </a:xfrm>
          <a:prstGeom prst="roundRect">
            <a:avLst/>
          </a:prstGeom>
          <a:solidFill>
            <a:srgbClr val="162642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99339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D3EB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450592"/>
            <a:ext cx="302666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• Replace starter topics with syllabus topics</a:t>
            </a:r>
            <a:br/>
            <a:r>
              <a:t>• Complete answer verification</a:t>
            </a:r>
            <a:br/>
            <a:r>
              <a:t>• Test with 10 students</a:t>
            </a:r>
            <a:br/>
            <a:r>
              <a:t>• Deploy from GitHub if appropriate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5F8FC"/>
                </a:solidFill>
                <a:latin typeface="Aptos"/>
              </a:defRPr>
            </a:pPr>
            <a:r>
              <a:t>Takeaway: AI can speed up preparation—but verification keeps learning reliable.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C1D6"/>
                </a:solidFill>
                <a:latin typeface="Aptos"/>
              </a:defRPr>
            </a:pPr>
            <a:r>
              <a:t>References to consult: OWASP • NIST • CISA • course lab manual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